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hou/FjoBpOLYX+RpeCGKcTeXQm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642B67-CB14-4CC7-9308-A89269B6710A}">
  <a:tblStyle styleId="{6F642B67-CB14-4CC7-9308-A89269B6710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dc4924356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dc4924356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dc4924356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7" name="Google Shape;17;p1"/>
          <p:cNvSpPr/>
          <p:nvPr/>
        </p:nvSpPr>
        <p:spPr>
          <a:xfrm>
            <a:off x="5943600" y="0"/>
            <a:ext cx="320040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1"/>
          <p:cNvSpPr/>
          <p:nvPr/>
        </p:nvSpPr>
        <p:spPr>
          <a:xfrm>
            <a:off x="5943600" y="45720"/>
            <a:ext cx="3200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900"/>
              <a:buFont typeface="Calibri"/>
              <a:buNone/>
            </a:pPr>
            <a:r>
              <a:rPr b="0" i="0" lang="en-US" sz="13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Vishwakarma Institute of Technology, Pune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943600" y="493776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0" lang="en-US" sz="12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83453" y="539510"/>
            <a:ext cx="5486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Calibri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Convex Hull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20040" y="1293868"/>
            <a:ext cx="5943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Algorithm Visualizer &amp; Analyzer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32015" y="1851685"/>
            <a:ext cx="5303400" cy="366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20050" y="2077925"/>
            <a:ext cx="7143000" cy="2487300"/>
          </a:xfrm>
          <a:prstGeom prst="rect">
            <a:avLst/>
          </a:prstGeom>
          <a:solidFill>
            <a:srgbClr val="0F2340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24" name="Google Shape;24;p1"/>
          <p:cNvSpPr/>
          <p:nvPr/>
        </p:nvSpPr>
        <p:spPr>
          <a:xfrm>
            <a:off x="502920" y="2423160"/>
            <a:ext cx="3200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200"/>
              <a:buFont typeface="Calibri"/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Group Members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27889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Anurag Raut   (59)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02920" y="308152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Ridham Anand  (62)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02920" y="3374136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Rimaz Bhaldar (63)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02920" y="3666744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ourier New"/>
              <a:buNone/>
            </a:pPr>
            <a:r>
              <a:rPr b="0" i="0" lang="en-US" sz="19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Rohan Khanna  (64)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3566160" y="2569348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lang="en-US" sz="1700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Group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663440" y="2569360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TY, </a:t>
            </a: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 </a:t>
            </a:r>
            <a:r>
              <a:rPr lang="en-US" sz="1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- 03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3566160" y="3058631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7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Guide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663440" y="3058631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Prof. Pushkar Joglekar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3566160" y="3570536"/>
            <a:ext cx="1097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000"/>
              <a:buFont typeface="Calibri"/>
              <a:buNone/>
            </a:pPr>
            <a:r>
              <a:rPr b="1" i="0" lang="en-US" sz="17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Date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663440" y="3547899"/>
            <a:ext cx="2377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May 2026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 cap="flat" cmpd="sng" w="12700">
            <a:solidFill>
              <a:srgbClr val="0A16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65760" y="73152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a Convex Hull?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1143000"/>
            <a:ext cx="5029200" cy="14173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65760" y="1143000"/>
            <a:ext cx="91440" cy="14173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48640" y="1207008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48640" y="1517904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Convex Hull of a set of 2D points is the smallest convex polygon that contains all the points — like stretching a rubber band around the outermost points.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2743200"/>
            <a:ext cx="50292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65760" y="2743200"/>
            <a:ext cx="91440" cy="56692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566928" y="277977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Convexity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566928" y="301752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Any line segment between two hull points stays inside the polygon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3383280"/>
            <a:ext cx="50292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65760" y="3383280"/>
            <a:ext cx="91440" cy="56692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566928" y="341985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Minimality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66928" y="365760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No smaller convex set can contain all the input points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65760" y="4023360"/>
            <a:ext cx="5029200" cy="56692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65760" y="4023360"/>
            <a:ext cx="91440" cy="56692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566928" y="4059936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Applications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566928" y="4297680"/>
            <a:ext cx="4663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Collision detection, GIS, pattern recognition, robotics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2"/>
          <p:cNvCxnSpPr/>
          <p:nvPr/>
        </p:nvCxnSpPr>
        <p:spPr>
          <a:xfrm flipH="1" rot="10800000">
            <a:off x="6583680" y="1463040"/>
            <a:ext cx="1463040" cy="365760"/>
          </a:xfrm>
          <a:prstGeom prst="straightConnector1">
            <a:avLst/>
          </a:prstGeom>
          <a:noFill/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2"/>
          <p:cNvCxnSpPr/>
          <p:nvPr/>
        </p:nvCxnSpPr>
        <p:spPr>
          <a:xfrm>
            <a:off x="8046720" y="1463040"/>
            <a:ext cx="640080" cy="1097280"/>
          </a:xfrm>
          <a:prstGeom prst="straightConnector1">
            <a:avLst/>
          </a:prstGeom>
          <a:noFill/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2"/>
          <p:cNvCxnSpPr/>
          <p:nvPr/>
        </p:nvCxnSpPr>
        <p:spPr>
          <a:xfrm flipH="1">
            <a:off x="8412480" y="2560320"/>
            <a:ext cx="274320" cy="1280160"/>
          </a:xfrm>
          <a:prstGeom prst="straightConnector1">
            <a:avLst/>
          </a:prstGeom>
          <a:noFill/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2"/>
          <p:cNvCxnSpPr/>
          <p:nvPr/>
        </p:nvCxnSpPr>
        <p:spPr>
          <a:xfrm flipH="1">
            <a:off x="7132320" y="3840480"/>
            <a:ext cx="1280160" cy="548640"/>
          </a:xfrm>
          <a:prstGeom prst="straightConnector1">
            <a:avLst/>
          </a:prstGeom>
          <a:noFill/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2"/>
          <p:cNvCxnSpPr/>
          <p:nvPr/>
        </p:nvCxnSpPr>
        <p:spPr>
          <a:xfrm rot="10800000">
            <a:off x="6217920" y="3474720"/>
            <a:ext cx="914400" cy="914400"/>
          </a:xfrm>
          <a:prstGeom prst="straightConnector1">
            <a:avLst/>
          </a:prstGeom>
          <a:noFill/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2"/>
          <p:cNvCxnSpPr/>
          <p:nvPr/>
        </p:nvCxnSpPr>
        <p:spPr>
          <a:xfrm rot="10800000">
            <a:off x="6035040" y="2560320"/>
            <a:ext cx="182880" cy="914400"/>
          </a:xfrm>
          <a:prstGeom prst="straightConnector1">
            <a:avLst/>
          </a:prstGeom>
          <a:noFill/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2"/>
          <p:cNvCxnSpPr/>
          <p:nvPr/>
        </p:nvCxnSpPr>
        <p:spPr>
          <a:xfrm flipH="1" rot="10800000">
            <a:off x="6035040" y="1828800"/>
            <a:ext cx="548640" cy="731520"/>
          </a:xfrm>
          <a:prstGeom prst="straightConnector1">
            <a:avLst/>
          </a:prstGeom>
          <a:noFill/>
          <a:ln cap="flat" cmpd="sng" w="3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2"/>
          <p:cNvSpPr/>
          <p:nvPr/>
        </p:nvSpPr>
        <p:spPr>
          <a:xfrm>
            <a:off x="6793992" y="2496312"/>
            <a:ext cx="128016" cy="128016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7342632" y="2862072"/>
            <a:ext cx="128016" cy="128016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7891272" y="3136392"/>
            <a:ext cx="128016" cy="128016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7159752" y="3593592"/>
            <a:ext cx="128016" cy="128016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7708392" y="2130552"/>
            <a:ext cx="128016" cy="128016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501384" y="1746504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7964424" y="1380744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8604504" y="2478024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8330184" y="3758184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2"/>
          <p:cNvSpPr/>
          <p:nvPr/>
        </p:nvSpPr>
        <p:spPr>
          <a:xfrm>
            <a:off x="7050024" y="4306824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135624" y="3392424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5952744" y="2478024"/>
            <a:ext cx="164592" cy="16459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943600" y="466344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Hull vertices  ●  Interior points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365760" y="54864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Brute Force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65760" y="5029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O(n³) Time Complexity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365760" y="1152144"/>
            <a:ext cx="438912" cy="43891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365760" y="11521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60120" y="1115568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1051560" y="1170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Test all pairs of points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051560" y="1463040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Enumerate every possible edge (i, j) from the point set.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365760" y="2029968"/>
            <a:ext cx="438912" cy="43891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365760" y="20299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960120" y="1993392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1051560" y="20482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Check all other points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1051560" y="2340864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For each edge, verify all remaining n−2 points lie on the same side.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65760" y="2907792"/>
            <a:ext cx="438912" cy="43891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365760" y="2907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960120" y="2871216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1051560" y="2926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Mark as hull edge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051560" y="3218688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If the check passes, the edge belongs to the convex hull.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65760" y="3785616"/>
            <a:ext cx="438912" cy="438912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/>
          <p:nvPr/>
        </p:nvSpPr>
        <p:spPr>
          <a:xfrm>
            <a:off x="365760" y="37856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960120" y="3749040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1051560" y="38039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1051560" y="4096512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Collect all valid hull edges to form the final polygon.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492240" y="1115568"/>
            <a:ext cx="2331720" cy="3749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583680" y="12070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583680" y="162763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583680" y="18745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O(n³)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3"/>
          <p:cNvCxnSpPr/>
          <p:nvPr/>
        </p:nvCxnSpPr>
        <p:spPr>
          <a:xfrm>
            <a:off x="6583680" y="214884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" name="Google Shape;113;p3"/>
          <p:cNvSpPr/>
          <p:nvPr/>
        </p:nvSpPr>
        <p:spPr>
          <a:xfrm>
            <a:off x="6583680" y="2194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6583680" y="24414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3"/>
          <p:cNvCxnSpPr/>
          <p:nvPr/>
        </p:nvCxnSpPr>
        <p:spPr>
          <a:xfrm>
            <a:off x="6583680" y="2715768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3"/>
          <p:cNvSpPr/>
          <p:nvPr/>
        </p:nvSpPr>
        <p:spPr>
          <a:xfrm>
            <a:off x="6583680" y="27614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6583680" y="30083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O(n³)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8" name="Google Shape;118;p3"/>
          <p:cNvCxnSpPr/>
          <p:nvPr/>
        </p:nvCxnSpPr>
        <p:spPr>
          <a:xfrm>
            <a:off x="6583680" y="3282696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3"/>
          <p:cNvSpPr/>
          <p:nvPr/>
        </p:nvSpPr>
        <p:spPr>
          <a:xfrm>
            <a:off x="6583680" y="332841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6583680" y="35753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Correct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6583680" y="3849624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CA5A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6583680" y="389534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Practical?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583680" y="41422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1D1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7F1D1D"/>
                </a:solidFill>
                <a:latin typeface="Calibri"/>
                <a:ea typeface="Calibri"/>
                <a:cs typeface="Calibri"/>
                <a:sym typeface="Calibri"/>
              </a:rPr>
              <a:t>No (slow)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6492240" y="4462272"/>
            <a:ext cx="2331720" cy="420624"/>
          </a:xfrm>
          <a:prstGeom prst="rect">
            <a:avLst/>
          </a:prstGeom>
          <a:solidFill>
            <a:srgbClr val="7F1D1D"/>
          </a:solidFill>
          <a:ln cap="flat" cmpd="sng" w="12700">
            <a:solidFill>
              <a:srgbClr val="7F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6537960" y="44805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Educational — not for large inputs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7C2D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65760" y="54864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Jarvis March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65760" y="502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Gift Wrapping  ·  O(nh) Time Complexity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1152144"/>
            <a:ext cx="438912" cy="43891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6" name="Google Shape;136;p4"/>
          <p:cNvSpPr/>
          <p:nvPr/>
        </p:nvSpPr>
        <p:spPr>
          <a:xfrm>
            <a:off x="365760" y="11521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960120" y="1115568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8" name="Google Shape;138;p4"/>
          <p:cNvSpPr/>
          <p:nvPr/>
        </p:nvSpPr>
        <p:spPr>
          <a:xfrm>
            <a:off x="1051560" y="1170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Find leftmost point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051560" y="1463040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Start from the point with the minimum x-coordinate </a:t>
            </a:r>
            <a:r>
              <a:rPr lang="en-US" sz="13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it is always on the hull.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65760" y="2029968"/>
            <a:ext cx="438912" cy="43891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1" name="Google Shape;141;p4"/>
          <p:cNvSpPr/>
          <p:nvPr/>
        </p:nvSpPr>
        <p:spPr>
          <a:xfrm>
            <a:off x="365760" y="20299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960120" y="1993392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3" name="Google Shape;143;p4"/>
          <p:cNvSpPr/>
          <p:nvPr/>
        </p:nvSpPr>
        <p:spPr>
          <a:xfrm>
            <a:off x="1051560" y="20482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Wrap around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051560" y="2340864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Select the point most counterclockwise relative to the current direction.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65760" y="2907792"/>
            <a:ext cx="438912" cy="43891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6" name="Google Shape;146;p4"/>
          <p:cNvSpPr/>
          <p:nvPr/>
        </p:nvSpPr>
        <p:spPr>
          <a:xfrm>
            <a:off x="365760" y="2907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960120" y="2871216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48" name="Google Shape;148;p4"/>
          <p:cNvSpPr/>
          <p:nvPr/>
        </p:nvSpPr>
        <p:spPr>
          <a:xfrm>
            <a:off x="1051560" y="2926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Advance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051560" y="3218688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Move to the selected point and repeat wrapping from there.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365760" y="3785616"/>
            <a:ext cx="438912" cy="438912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1" name="Google Shape;151;p4"/>
          <p:cNvSpPr/>
          <p:nvPr/>
        </p:nvSpPr>
        <p:spPr>
          <a:xfrm>
            <a:off x="365760" y="37856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960120" y="3749040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53" name="Google Shape;153;p4"/>
          <p:cNvSpPr/>
          <p:nvPr/>
        </p:nvSpPr>
        <p:spPr>
          <a:xfrm>
            <a:off x="1051560" y="38039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50"/>
              <a:buFont typeface="Calibri"/>
              <a:buNone/>
            </a:pPr>
            <a:r>
              <a:rPr b="1" i="0" lang="en-US" sz="1450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Close the hull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051560" y="4096512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Stop when the starting point is reached again.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492240" y="1115568"/>
            <a:ext cx="2331720" cy="3749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583680" y="12070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6583680" y="162763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6583680" y="18745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O(nh)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6583680" y="214884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4"/>
          <p:cNvSpPr/>
          <p:nvPr/>
        </p:nvSpPr>
        <p:spPr>
          <a:xfrm>
            <a:off x="6583680" y="2194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Where h=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6583680" y="24414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Hull size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2" name="Google Shape;162;p4"/>
          <p:cNvCxnSpPr/>
          <p:nvPr/>
        </p:nvCxnSpPr>
        <p:spPr>
          <a:xfrm>
            <a:off x="6583680" y="2715768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4"/>
          <p:cNvSpPr/>
          <p:nvPr/>
        </p:nvSpPr>
        <p:spPr>
          <a:xfrm>
            <a:off x="6583680" y="27614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6583680" y="30083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4"/>
          <p:cNvCxnSpPr/>
          <p:nvPr/>
        </p:nvCxnSpPr>
        <p:spPr>
          <a:xfrm>
            <a:off x="6583680" y="3282696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4"/>
          <p:cNvSpPr/>
          <p:nvPr/>
        </p:nvSpPr>
        <p:spPr>
          <a:xfrm>
            <a:off x="6583680" y="332841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6583680" y="35753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O(n²)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4"/>
          <p:cNvCxnSpPr/>
          <p:nvPr/>
        </p:nvCxnSpPr>
        <p:spPr>
          <a:xfrm>
            <a:off x="6583680" y="3849624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4"/>
          <p:cNvSpPr/>
          <p:nvPr/>
        </p:nvSpPr>
        <p:spPr>
          <a:xfrm>
            <a:off x="6583680" y="389534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6583680" y="41422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2D12"/>
              </a:buClr>
              <a:buSzPts val="1200"/>
              <a:buFont typeface="Calibri"/>
              <a:buNone/>
            </a:pPr>
            <a:r>
              <a:rPr b="1" i="0" lang="en-US" u="none" cap="none" strike="noStrike">
                <a:solidFill>
                  <a:srgbClr val="7C2D12"/>
                </a:solidFill>
                <a:latin typeface="Calibri"/>
                <a:ea typeface="Calibri"/>
                <a:cs typeface="Calibri"/>
                <a:sym typeface="Calibri"/>
              </a:rPr>
              <a:t>Small hull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6492240" y="4462272"/>
            <a:ext cx="2331720" cy="420624"/>
          </a:xfrm>
          <a:prstGeom prst="rect">
            <a:avLst/>
          </a:prstGeom>
          <a:solidFill>
            <a:srgbClr val="7C2D12"/>
          </a:solidFill>
          <a:ln cap="flat" cmpd="sng" w="12700">
            <a:solidFill>
              <a:srgbClr val="7C2D1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6537960" y="44805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Great when hull points are few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 cap="flat" cmpd="sng" w="12700">
            <a:solidFill>
              <a:srgbClr val="1E1B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365760" y="54864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Graham Scan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65760" y="5029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Stack-Based Sweep  ·  O(n log n) Time Complexity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365760" y="1152144"/>
            <a:ext cx="438912" cy="438912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365760" y="11521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960125" y="1115575"/>
            <a:ext cx="5303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1051560" y="1170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Find anchor point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1051560" y="1463040"/>
            <a:ext cx="5029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Pick the lowest point (smallest y). Break ties by smallest x.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65760" y="2029968"/>
            <a:ext cx="438912" cy="438912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365760" y="20299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960120" y="1993392"/>
            <a:ext cx="5303400" cy="804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1051560" y="20482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Sort by polar angle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051560" y="2340864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Sort remaining points by their polar angle relative to the anchor.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65760" y="2907792"/>
            <a:ext cx="438912" cy="438912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5"/>
          <p:cNvSpPr/>
          <p:nvPr/>
        </p:nvSpPr>
        <p:spPr>
          <a:xfrm>
            <a:off x="365760" y="2907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60120" y="2871216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5"/>
          <p:cNvSpPr/>
          <p:nvPr/>
        </p:nvSpPr>
        <p:spPr>
          <a:xfrm>
            <a:off x="1051560" y="2926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Stack-based sweep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1051550" y="3218700"/>
            <a:ext cx="22182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Push points onto a stack. Pop if a right turn (clockwise) is detected.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365760" y="3785616"/>
            <a:ext cx="438912" cy="438912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365760" y="37856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960120" y="3749040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1051560" y="38039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Build the hull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051560" y="4096512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Points remaining on the stack form the convex hull vertices.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6492250" y="1115574"/>
            <a:ext cx="2331600" cy="3438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5"/>
          <p:cNvSpPr/>
          <p:nvPr/>
        </p:nvSpPr>
        <p:spPr>
          <a:xfrm>
            <a:off x="6583680" y="12070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6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6366F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6583680" y="162763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583680" y="18745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5"/>
          <p:cNvCxnSpPr/>
          <p:nvPr/>
        </p:nvCxnSpPr>
        <p:spPr>
          <a:xfrm>
            <a:off x="6583680" y="214884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5"/>
          <p:cNvSpPr/>
          <p:nvPr/>
        </p:nvSpPr>
        <p:spPr>
          <a:xfrm>
            <a:off x="6583680" y="2194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6583680" y="24414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p5"/>
          <p:cNvCxnSpPr/>
          <p:nvPr/>
        </p:nvCxnSpPr>
        <p:spPr>
          <a:xfrm>
            <a:off x="6583680" y="2715768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5"/>
          <p:cNvSpPr/>
          <p:nvPr/>
        </p:nvSpPr>
        <p:spPr>
          <a:xfrm>
            <a:off x="6583680" y="27614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Best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6583680" y="30083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2" name="Google Shape;212;p5"/>
          <p:cNvCxnSpPr/>
          <p:nvPr/>
        </p:nvCxnSpPr>
        <p:spPr>
          <a:xfrm>
            <a:off x="6583680" y="3282696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5"/>
          <p:cNvSpPr/>
          <p:nvPr/>
        </p:nvSpPr>
        <p:spPr>
          <a:xfrm>
            <a:off x="6583680" y="332841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"/>
          <p:cNvSpPr/>
          <p:nvPr/>
        </p:nvSpPr>
        <p:spPr>
          <a:xfrm>
            <a:off x="6583680" y="35753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Consistent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5" name="Google Shape;215;p5"/>
          <p:cNvCxnSpPr/>
          <p:nvPr/>
        </p:nvCxnSpPr>
        <p:spPr>
          <a:xfrm>
            <a:off x="6583680" y="3849624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C7D2F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6" name="Google Shape;216;p5"/>
          <p:cNvSpPr/>
          <p:nvPr/>
        </p:nvSpPr>
        <p:spPr>
          <a:xfrm>
            <a:off x="6583680" y="389534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Practical?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5"/>
          <p:cNvSpPr/>
          <p:nvPr/>
        </p:nvSpPr>
        <p:spPr>
          <a:xfrm>
            <a:off x="6583680" y="41422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B4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1B4B"/>
                </a:solidFill>
                <a:latin typeface="Calibri"/>
                <a:ea typeface="Calibri"/>
                <a:cs typeface="Calibri"/>
                <a:sym typeface="Calibri"/>
              </a:rPr>
              <a:t>Yes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8" name="Google Shape;21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3900" y="2875800"/>
            <a:ext cx="3429624" cy="3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12700" y="3188400"/>
            <a:ext cx="950950" cy="48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89198" y="1995652"/>
            <a:ext cx="1374315" cy="8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AF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4E3B"/>
          </a:solidFill>
          <a:ln cap="flat" cmpd="sng" w="12700">
            <a:solidFill>
              <a:srgbClr val="064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365760" y="54864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QuickHull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65760" y="5029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Divide &amp; Conquer  ·  O(n log n) avg  ·  O(n²) worst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365760" y="1152144"/>
            <a:ext cx="438912" cy="43891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365760" y="115214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960120" y="1115568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1051560" y="11704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Find extremes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1051560" y="1463040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Identify leftmost and rightmost points — both are guaranteed hull vertices.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365760" y="2029968"/>
            <a:ext cx="438912" cy="43891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365760" y="202996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960120" y="1993392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1051560" y="204825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Partition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1051560" y="2340864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Divide remaining points into upper and lower subsets relative to the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365760" y="2907792"/>
            <a:ext cx="438912" cy="43891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365760" y="290779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6"/>
          <p:cNvSpPr/>
          <p:nvPr/>
        </p:nvSpPr>
        <p:spPr>
          <a:xfrm>
            <a:off x="960120" y="2871216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1051560" y="292608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Find farthest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1051560" y="3218688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each subset, find the point farthest from the dividing line.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365760" y="3785616"/>
            <a:ext cx="438912" cy="438912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365760" y="378561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960120" y="3749040"/>
            <a:ext cx="530352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1051560" y="380390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Recurse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1051560" y="4096512"/>
            <a:ext cx="5029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Recursively repeat for sub-triangles until no points remain outside.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6492240" y="1115568"/>
            <a:ext cx="2331720" cy="374904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6583680" y="1207008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6583680" y="1627632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Avg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6583680" y="1874520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O(n log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6"/>
          <p:cNvCxnSpPr/>
          <p:nvPr/>
        </p:nvCxnSpPr>
        <p:spPr>
          <a:xfrm>
            <a:off x="6583680" y="2148840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6"/>
          <p:cNvSpPr/>
          <p:nvPr/>
        </p:nvSpPr>
        <p:spPr>
          <a:xfrm>
            <a:off x="6583680" y="219456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Worst Case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6583680" y="2441448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O(n²)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7" name="Google Shape;257;p6"/>
          <p:cNvCxnSpPr/>
          <p:nvPr/>
        </p:nvCxnSpPr>
        <p:spPr>
          <a:xfrm>
            <a:off x="6583680" y="2715768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6"/>
          <p:cNvSpPr/>
          <p:nvPr/>
        </p:nvSpPr>
        <p:spPr>
          <a:xfrm>
            <a:off x="6583680" y="27614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6583680" y="3008376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O(n)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6"/>
          <p:cNvCxnSpPr/>
          <p:nvPr/>
        </p:nvCxnSpPr>
        <p:spPr>
          <a:xfrm>
            <a:off x="6583680" y="3282696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1" name="Google Shape;261;p6"/>
          <p:cNvSpPr/>
          <p:nvPr/>
        </p:nvSpPr>
        <p:spPr>
          <a:xfrm>
            <a:off x="6583680" y="332841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6583680" y="3575304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Recursive D&amp;C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6"/>
          <p:cNvCxnSpPr/>
          <p:nvPr/>
        </p:nvCxnSpPr>
        <p:spPr>
          <a:xfrm>
            <a:off x="6583680" y="3849624"/>
            <a:ext cx="2011680" cy="0"/>
          </a:xfrm>
          <a:prstGeom prst="straightConnector1">
            <a:avLst/>
          </a:prstGeom>
          <a:noFill/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6"/>
          <p:cNvSpPr/>
          <p:nvPr/>
        </p:nvSpPr>
        <p:spPr>
          <a:xfrm>
            <a:off x="6583680" y="389534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Practical?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6583680" y="4142232"/>
            <a:ext cx="2103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4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rPr>
              <a:t>Very fast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6492240" y="4462272"/>
            <a:ext cx="2331720" cy="420624"/>
          </a:xfrm>
          <a:prstGeom prst="rect">
            <a:avLst/>
          </a:prstGeom>
          <a:solidFill>
            <a:srgbClr val="064E3B"/>
          </a:solidFill>
          <a:ln cap="flat" cmpd="sng" w="12700">
            <a:solidFill>
              <a:srgbClr val="064E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6"/>
          <p:cNvSpPr/>
          <p:nvPr/>
        </p:nvSpPr>
        <p:spPr>
          <a:xfrm>
            <a:off x="6537960" y="4480560"/>
            <a:ext cx="2240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 in practice · D&amp;C paradigm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628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 Comparison &amp; Key Takeaways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6" name="Google Shape;276;p7"/>
          <p:cNvGraphicFramePr/>
          <p:nvPr/>
        </p:nvGraphicFramePr>
        <p:xfrm>
          <a:off x="274320" y="10972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{6F642B67-CB14-4CC7-9308-A89269B6710A}</a:tableStyleId>
              </a:tblPr>
              <a:tblGrid>
                <a:gridCol w="1828800"/>
                <a:gridCol w="1463050"/>
                <a:gridCol w="3657600"/>
                <a:gridCol w="9144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Algorithm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Complexity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Best Use Case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Practical?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Brute Force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</a:rPr>
                        <a:t>O(n³)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Learning / Small sets (&lt; 10 pts)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F444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EF4444"/>
                          </a:solidFill>
                        </a:rPr>
                        <a:t>✗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Jarvis March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97316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97316"/>
                          </a:solidFill>
                        </a:rPr>
                        <a:t>O(nh)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Small hull size (few hull pts)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BBF2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BBF24"/>
                          </a:solidFill>
                        </a:rPr>
                        <a:t>~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Graham Scan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5EEAD4"/>
                          </a:solidFill>
                        </a:rPr>
                        <a:t>O(n log n)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General purpose · widely used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</a:rPr>
                        <a:t>✓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840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QuickHull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EEAD4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5EEAD4"/>
                          </a:solidFill>
                        </a:rPr>
                        <a:t>O(n log n)*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FFFFFF"/>
                          </a:solidFill>
                        </a:rPr>
                        <a:t>Fastest in practice · large sets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B981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10B981"/>
                          </a:solidFill>
                        </a:rPr>
                        <a:t>✓✓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33415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2035"/>
                    </a:solidFill>
                  </a:tcPr>
                </a:tc>
              </a:tr>
            </a:tbl>
          </a:graphicData>
        </a:graphic>
      </p:graphicFrame>
      <p:sp>
        <p:nvSpPr>
          <p:cNvPr id="277" name="Google Shape;277;p7"/>
          <p:cNvSpPr/>
          <p:nvPr/>
        </p:nvSpPr>
        <p:spPr>
          <a:xfrm>
            <a:off x="274320" y="3401568"/>
            <a:ext cx="8595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EEAD4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274320" y="3794760"/>
            <a:ext cx="128016" cy="128016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502920" y="3767328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Brute Force is educational — great for understanding but impractical at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274320" y="4087368"/>
            <a:ext cx="128016" cy="128016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502920" y="4059936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Jarvis March excels when the hull is small relative to total points.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274320" y="4379976"/>
            <a:ext cx="128016" cy="128016"/>
          </a:xfrm>
          <a:prstGeom prst="ellipse">
            <a:avLst/>
          </a:prstGeom>
          <a:solidFill>
            <a:srgbClr val="6366F1"/>
          </a:solidFill>
          <a:ln cap="flat" cmpd="sng" w="12700">
            <a:solidFill>
              <a:srgbClr val="6366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502920" y="435254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Graham Scan is reliable and widely deployed in production systems.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274320" y="4672584"/>
            <a:ext cx="128016" cy="128016"/>
          </a:xfrm>
          <a:prstGeom prst="ellipse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502920" y="4645152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QuickHull offers the best average performance using Divide &amp; Conquer.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dc4924356a_0_0"/>
          <p:cNvSpPr txBox="1"/>
          <p:nvPr/>
        </p:nvSpPr>
        <p:spPr>
          <a:xfrm>
            <a:off x="121100" y="1851450"/>
            <a:ext cx="41790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6000">
                <a:solidFill>
                  <a:schemeClr val="lt1"/>
                </a:solidFill>
              </a:rPr>
              <a:t>Thank You</a:t>
            </a:r>
            <a:endParaRPr b="1" i="1" sz="6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2026-05-05T11:44:55Z</dcterms:created>
  <dc:creator>PptxGenJS</dc:creator>
</cp:coreProperties>
</file>